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6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7311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1800" b="1">
                <a:solidFill>
                  <a:srgbClr val="333333"/>
                </a:solidFill>
                <a:latin typeface="Microsoft YaHei"/>
              </a:rPr>
              <a:t>SaaS平台客户需求改造交付节点流程图</a:t>
            </a:r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965960" y="82296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0" y="82296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49240" y="82296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040880" y="82296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8647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333333"/>
                </a:solidFill>
                <a:latin typeface="Microsoft YaHei"/>
              </a:rPr>
              <a:t>启动阶段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965960" y="8647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333333"/>
                </a:solidFill>
                <a:latin typeface="Microsoft YaHei"/>
              </a:rPr>
              <a:t>需求A阶段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0" y="8647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333333"/>
                </a:solidFill>
                <a:latin typeface="Microsoft YaHei"/>
              </a:rPr>
              <a:t>需求A上线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349240" y="8647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333333"/>
                </a:solidFill>
                <a:latin typeface="Microsoft YaHei"/>
              </a:rPr>
              <a:t>需求B阶段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040880" y="8647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333333"/>
                </a:solidFill>
                <a:latin typeface="Microsoft YaHei"/>
              </a:rPr>
              <a:t>上线验收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62940" y="1303020"/>
            <a:ext cx="777240" cy="7772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2940" y="144216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4472C4"/>
                </a:solidFill>
                <a:latin typeface="Microsoft YaHei"/>
              </a:rPr>
              <a:t>M1 启动排期确认
</a:t>
            </a:r>
            <a:r>
              <a:rPr sz="800">
                <a:solidFill>
                  <a:srgbClr val="4472C4"/>
                </a:solidFill>
                <a:latin typeface="Microsoft YaHei"/>
              </a:rPr>
              <a:t>第1天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246888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2514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FF6600"/>
                </a:solidFill>
                <a:latin typeface="Microsoft YaHei"/>
              </a:rPr>
              <a:t>M2 需求范围冻结
</a:t>
            </a:r>
            <a:r>
              <a:rPr sz="800">
                <a:solidFill>
                  <a:srgbClr val="FF6600"/>
                </a:solidFill>
                <a:latin typeface="Microsoft YaHei"/>
              </a:rPr>
              <a:t>第2-3天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51560" y="2084832"/>
            <a:ext cx="0" cy="384048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240280" y="118872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168721" y="12344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70AD47"/>
                </a:solidFill>
                <a:latin typeface="Microsoft YaHei"/>
              </a:rPr>
              <a:t>M3 角色权限确认
</a:t>
            </a:r>
            <a:r>
              <a:rPr sz="800">
                <a:solidFill>
                  <a:srgbClr val="70AD47"/>
                </a:solidFill>
                <a:latin typeface="Microsoft YaHei"/>
              </a:rPr>
              <a:t>第3-4天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240280" y="297180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174679" y="301752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70AD47"/>
                </a:solidFill>
                <a:latin typeface="Microsoft YaHei"/>
              </a:rPr>
              <a:t>M4 标签功能开发
</a:t>
            </a:r>
            <a:r>
              <a:rPr sz="800">
                <a:solidFill>
                  <a:srgbClr val="70AD47"/>
                </a:solidFill>
                <a:latin typeface="Microsoft YaHei"/>
              </a:rPr>
              <a:t>第2周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931920" y="118872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866319" y="12344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4472C4"/>
                </a:solidFill>
                <a:latin typeface="Microsoft YaHei"/>
              </a:rPr>
              <a:t>M5 标签联调完成
</a:t>
            </a:r>
            <a:r>
              <a:rPr sz="800">
                <a:solidFill>
                  <a:srgbClr val="4472C4"/>
                </a:solidFill>
                <a:latin typeface="Microsoft YaHei"/>
              </a:rPr>
              <a:t>第3周前半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931920" y="192024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866319" y="196596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C00000"/>
                </a:solidFill>
                <a:latin typeface="Microsoft YaHei"/>
              </a:rPr>
              <a:t>M6 标签UAT通过
</a:t>
            </a:r>
            <a:r>
              <a:rPr sz="800">
                <a:solidFill>
                  <a:srgbClr val="C00000"/>
                </a:solidFill>
                <a:latin typeface="Microsoft YaHei"/>
              </a:rPr>
              <a:t>第3周(5次x1h)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931920" y="265176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882221" y="26974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4472C4"/>
                </a:solidFill>
                <a:latin typeface="Microsoft YaHei"/>
              </a:rPr>
              <a:t>M7 需求A上线
</a:t>
            </a:r>
            <a:r>
              <a:rPr sz="800">
                <a:solidFill>
                  <a:srgbClr val="4472C4"/>
                </a:solidFill>
                <a:latin typeface="Microsoft YaHei"/>
              </a:rPr>
              <a:t>第3周末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931920" y="338328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858368" y="342900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4472C4"/>
                </a:solidFill>
                <a:latin typeface="Microsoft YaHei"/>
              </a:rPr>
              <a:t>M8 动态日更方案确认
</a:t>
            </a:r>
            <a:r>
              <a:rPr sz="800">
                <a:solidFill>
                  <a:srgbClr val="4472C4"/>
                </a:solidFill>
                <a:latin typeface="Microsoft YaHei"/>
              </a:rPr>
              <a:t>第4周初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434840" y="2377440"/>
            <a:ext cx="0" cy="27432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434840" y="3108960"/>
            <a:ext cx="0" cy="27432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623560" y="118872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577440" y="1234440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4472C4"/>
                </a:solidFill>
                <a:latin typeface="Microsoft YaHei"/>
              </a:rPr>
              <a:t>M9 动态同步开发
</a:t>
            </a:r>
            <a:r>
              <a:rPr sz="800">
                <a:solidFill>
                  <a:srgbClr val="4472C4"/>
                </a:solidFill>
                <a:latin typeface="Microsoft YaHei"/>
              </a:rPr>
              <a:t>第4周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623560" y="237744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540064" y="2423160"/>
            <a:ext cx="119269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70AD47"/>
                </a:solidFill>
                <a:latin typeface="Microsoft YaHei"/>
              </a:rPr>
              <a:t>M10 动态联调完成
</a:t>
            </a:r>
            <a:r>
              <a:rPr sz="800">
                <a:solidFill>
                  <a:srgbClr val="70AD47"/>
                </a:solidFill>
                <a:latin typeface="Microsoft YaHei"/>
              </a:rPr>
              <a:t>第5周前半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623560" y="310896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623560" y="31546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FF6600"/>
                </a:solidFill>
                <a:latin typeface="Microsoft YaHei"/>
              </a:rPr>
              <a:t>M11 需求B UAT通过
</a:t>
            </a:r>
            <a:r>
              <a:rPr sz="800">
                <a:solidFill>
                  <a:srgbClr val="FF6600"/>
                </a:solidFill>
                <a:latin typeface="Microsoft YaHei"/>
              </a:rPr>
              <a:t>第5周(5次x1h)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126480" y="2834640"/>
            <a:ext cx="0" cy="27432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429500" y="1303020"/>
            <a:ext cx="777240" cy="7772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29500" y="139446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4472C4"/>
                </a:solidFill>
                <a:latin typeface="Microsoft YaHei"/>
              </a:rPr>
              <a:t>M12 需求B上线
</a:t>
            </a:r>
            <a:r>
              <a:rPr sz="800">
                <a:solidFill>
                  <a:srgbClr val="4472C4"/>
                </a:solidFill>
                <a:latin typeface="Microsoft YaHei"/>
              </a:rPr>
              <a:t>第5周末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429500" y="3406140"/>
            <a:ext cx="777240" cy="7772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429500" y="349758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4472C4"/>
                </a:solidFill>
                <a:latin typeface="Microsoft YaHei"/>
              </a:rPr>
              <a:t>M13 稳态交付验收
</a:t>
            </a:r>
            <a:r>
              <a:rPr sz="800">
                <a:solidFill>
                  <a:srgbClr val="4472C4"/>
                </a:solidFill>
                <a:latin typeface="Microsoft YaHei"/>
              </a:rPr>
              <a:t>第6周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818120" y="2084832"/>
            <a:ext cx="0" cy="1316736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444752" y="1691640"/>
            <a:ext cx="795528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444752" y="2697480"/>
            <a:ext cx="795528" cy="50292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3246120" y="1417320"/>
            <a:ext cx="6858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246120" y="3200400"/>
            <a:ext cx="6858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937760" y="1417320"/>
            <a:ext cx="6858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629400" y="1417320"/>
            <a:ext cx="795528" cy="27432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629400" y="3337560"/>
            <a:ext cx="795528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57200" y="4434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图例说明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1463040" y="4480560"/>
            <a:ext cx="164592" cy="164592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1673352" y="4434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星标节点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2468880" y="4480560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2679192" y="4434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普通节点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3474720" y="4480560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3685032" y="4434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内部节点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480560" y="4480560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4690872" y="4434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材料节点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5669280" y="4544568"/>
            <a:ext cx="32004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6035040" y="4434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关联线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6675120" y="4544568"/>
            <a:ext cx="3200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7040880" y="44348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普通连线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93</Words>
  <Application>Microsoft Macintosh PowerPoint</Application>
  <PresentationFormat>全屏显示(16:9)</PresentationFormat>
  <Paragraphs>27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Arial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SaaS平台数据入驻项目交付节点流程图</dc:title>
  <dc:subject>PptxGenJS Presentation</dc:subject>
  <dc:creator>Flowchart Converter</dc:creator>
  <cp:lastModifiedBy>Will</cp:lastModifiedBy>
  <cp:revision>2</cp:revision>
  <dcterms:created xsi:type="dcterms:W3CDTF">2026-02-11T02:26:44Z</dcterms:created>
  <dcterms:modified xsi:type="dcterms:W3CDTF">2026-02-11T02:29:18Z</dcterms:modified>
</cp:coreProperties>
</file>