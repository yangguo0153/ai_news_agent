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4" r:id="rId2"/>
    <p:sldId id="258" r:id="rId3"/>
    <p:sldId id="257" r:id="rId4"/>
    <p:sldId id="266" r:id="rId5"/>
    <p:sldId id="256" r:id="rId6"/>
    <p:sldId id="265" r:id="rId7"/>
    <p:sldId id="262" r:id="rId8"/>
    <p:sldId id="259" r:id="rId9"/>
    <p:sldId id="260" r:id="rId10"/>
    <p:sldId id="261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68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7311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FE286-D9AE-A079-BCDA-27A4B4577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988EEB2-BC0F-7BAF-59CE-46B57B6CA4BE}"/>
              </a:ext>
            </a:extLst>
          </p:cNvPr>
          <p:cNvSpPr txBox="1"/>
          <p:nvPr/>
        </p:nvSpPr>
        <p:spPr>
          <a:xfrm>
            <a:off x="3896139" y="2067339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定制化部署</a:t>
            </a:r>
          </a:p>
        </p:txBody>
      </p:sp>
    </p:spTree>
    <p:extLst>
      <p:ext uri="{BB962C8B-B14F-4D97-AF65-F5344CB8AC3E}">
        <p14:creationId xmlns:p14="http://schemas.microsoft.com/office/powerpoint/2010/main" val="4220649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71756" y="182880"/>
            <a:ext cx="1800493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1" dirty="0" err="1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</a:t>
            </a:r>
            <a:r>
              <a:rPr lang="zh-CN" altLang="en-US" sz="2100" b="1" dirty="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优化</a:t>
            </a:r>
            <a:r>
              <a:rPr sz="2100" b="1" dirty="0" err="1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概述</a:t>
            </a:r>
            <a:endParaRPr sz="2100" b="1" dirty="0">
              <a:solidFill>
                <a:srgbClr val="2222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86899" y="616227"/>
            <a:ext cx="357020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dirty="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先“</a:t>
            </a:r>
            <a:r>
              <a:rPr sz="1200" b="0" dirty="0" err="1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数据入驻</a:t>
            </a:r>
            <a:r>
              <a:rPr sz="1200" b="0" dirty="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”，</a:t>
            </a:r>
            <a:r>
              <a:rPr sz="1200" b="0" dirty="0" err="1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再“需求改造</a:t>
            </a:r>
            <a:r>
              <a:rPr sz="1200" b="0" dirty="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”</a:t>
            </a:r>
            <a:r>
              <a:rPr lang="zh-CN" altLang="en-US" sz="1200" b="0" dirty="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，两者同步进行</a:t>
            </a:r>
            <a:endParaRPr sz="1200" b="0" dirty="0">
              <a:solidFill>
                <a:srgbClr val="66666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7680960" cy="18288"/>
          </a:xfrm>
          <a:prstGeom prst="rect">
            <a:avLst/>
          </a:prstGeom>
          <a:solidFill>
            <a:srgbClr val="D4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3886200" cy="3337560"/>
          </a:xfrm>
          <a:prstGeom prst="roundRect">
            <a:avLst/>
          </a:prstGeom>
          <a:solidFill>
            <a:srgbClr val="EAF2FB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13232" y="1325880"/>
            <a:ext cx="841248" cy="329184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362456"/>
            <a:ext cx="8412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图1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82496" y="1325880"/>
            <a:ext cx="1915909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dirty="0" err="1">
                <a:solidFill>
                  <a:srgbClr val="4472C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新客户数据入驻</a:t>
            </a:r>
            <a:r>
              <a:rPr lang="zh-CN" altLang="en-US" sz="1500" b="1" dirty="0">
                <a:solidFill>
                  <a:srgbClr val="4472C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节点</a:t>
            </a:r>
            <a:endParaRPr sz="1500" b="1" dirty="0">
              <a:solidFill>
                <a:srgbClr val="4472C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6656" y="1983850"/>
            <a:ext cx="3611880" cy="1833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200" dirty="0" err="1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作用</a:t>
            </a:r>
            <a:endParaRPr lang="en-US" sz="1200" dirty="0">
              <a:solidFill>
                <a:srgbClr val="2222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>
              <a:spcAft>
                <a:spcPts val="700"/>
              </a:spcAft>
            </a:pPr>
            <a:r>
              <a:rPr sz="1200" dirty="0" err="1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说明如何把现有合作媒体资料，统一收录到系统</a:t>
            </a:r>
            <a:r>
              <a:rPr lang="zh-CN" altLang="en-US" sz="1200" dirty="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sz="1200" dirty="0">
              <a:solidFill>
                <a:srgbClr val="2222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 algn="l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节点阐述</a:t>
            </a:r>
            <a:endParaRPr lang="en-US" altLang="zh-CN" sz="1200" dirty="0">
              <a:solidFill>
                <a:srgbClr val="2222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>
              <a:spcAft>
                <a:spcPts val="700"/>
              </a:spcAft>
            </a:pPr>
            <a:r>
              <a:rPr sz="1200" dirty="0" err="1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从启动、需求确认、开发测试到正式上线的全流程</a:t>
            </a:r>
            <a:endParaRPr sz="1200" dirty="0">
              <a:solidFill>
                <a:srgbClr val="2222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 algn="l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200" dirty="0" err="1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</a:t>
            </a:r>
            <a:endParaRPr lang="en-US" sz="1200" dirty="0">
              <a:solidFill>
                <a:srgbClr val="2222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>
              <a:spcAft>
                <a:spcPts val="700"/>
              </a:spcAft>
            </a:pPr>
            <a:r>
              <a:rPr sz="1200" dirty="0" err="1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媒体资产可统一管理，后续项目可以直接选用和评估</a:t>
            </a:r>
            <a:endParaRPr sz="1200" dirty="0">
              <a:solidFill>
                <a:srgbClr val="2222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754880" y="1143000"/>
            <a:ext cx="3886200" cy="3337560"/>
          </a:xfrm>
          <a:prstGeom prst="roundRect">
            <a:avLst/>
          </a:prstGeom>
          <a:solidFill>
            <a:srgbClr val="EEF7E8"/>
          </a:solidFill>
          <a:ln w="19050">
            <a:solidFill>
              <a:srgbClr val="5B9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965192" y="1325880"/>
            <a:ext cx="841248" cy="329184"/>
          </a:xfrm>
          <a:prstGeom prst="roundRect">
            <a:avLst/>
          </a:prstGeom>
          <a:solidFill>
            <a:srgbClr val="5B9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65192" y="1362456"/>
            <a:ext cx="8412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图2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34456" y="1325880"/>
            <a:ext cx="1723549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dirty="0" err="1">
                <a:solidFill>
                  <a:srgbClr val="5B9E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客户需求改造</a:t>
            </a:r>
            <a:r>
              <a:rPr lang="zh-CN" altLang="en-US" sz="1500" b="1" dirty="0">
                <a:solidFill>
                  <a:srgbClr val="5B9E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节点</a:t>
            </a:r>
            <a:endParaRPr sz="1500" b="1" dirty="0">
              <a:solidFill>
                <a:srgbClr val="5B9E3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92040" y="1983850"/>
            <a:ext cx="361188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100" b="1" dirty="0" err="1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作用</a:t>
            </a:r>
            <a:endParaRPr lang="en-US" sz="1100" b="1" dirty="0">
              <a:solidFill>
                <a:srgbClr val="2222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>
              <a:spcAft>
                <a:spcPts val="700"/>
              </a:spcAft>
            </a:pPr>
            <a:r>
              <a:rPr sz="1100" dirty="0" err="1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在现有</a:t>
            </a:r>
            <a:r>
              <a:rPr lang="zh-CN" altLang="en-US" sz="1100" dirty="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</a:t>
            </a:r>
            <a:r>
              <a:rPr sz="1100" dirty="0" err="1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平台上，按</a:t>
            </a:r>
            <a:r>
              <a:rPr lang="zh-CN" altLang="en-US" sz="1100" dirty="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业务需求</a:t>
            </a:r>
            <a:r>
              <a:rPr sz="1100" dirty="0" err="1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做功能升级</a:t>
            </a:r>
            <a:endParaRPr sz="1100" dirty="0">
              <a:solidFill>
                <a:srgbClr val="2222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 algn="l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1100" b="1" dirty="0" err="1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节点阐述</a:t>
            </a:r>
            <a:endParaRPr lang="en-US" sz="1100" b="1" dirty="0">
              <a:solidFill>
                <a:srgbClr val="2222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>
              <a:spcAft>
                <a:spcPts val="700"/>
              </a:spcAft>
            </a:pPr>
            <a:r>
              <a:rPr lang="zh-CN" altLang="en-US" sz="1100" dirty="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媒体</a:t>
            </a:r>
            <a:r>
              <a:rPr sz="1100" dirty="0" err="1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标签自定义</a:t>
            </a:r>
            <a:r>
              <a:rPr lang="zh-CN" altLang="en-US" sz="1100" dirty="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：自由标注媒体特点，便于后续选择</a:t>
            </a:r>
            <a:endParaRPr lang="en-US" sz="1100" dirty="0">
              <a:solidFill>
                <a:srgbClr val="2222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>
              <a:spcAft>
                <a:spcPts val="700"/>
              </a:spcAft>
            </a:pPr>
            <a:r>
              <a:rPr lang="zh-CN" altLang="en-US" sz="1100" dirty="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媒体人动态</a:t>
            </a:r>
            <a:r>
              <a:rPr lang="zh-CN" altLang="en-US" sz="1100" dirty="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：系统首页动态展示媒体人动态</a:t>
            </a:r>
            <a:endParaRPr sz="1100" dirty="0">
              <a:solidFill>
                <a:srgbClr val="2222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 algn="l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100" b="1" dirty="0" err="1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</a:t>
            </a:r>
            <a:endParaRPr lang="en-US" sz="1100" b="1" dirty="0">
              <a:solidFill>
                <a:srgbClr val="2222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>
              <a:spcAft>
                <a:spcPts val="700"/>
              </a:spcAft>
            </a:pPr>
            <a:r>
              <a:rPr sz="1100" dirty="0" err="1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系统更贴合业务，媒体选择与评估更灵活、可持续</a:t>
            </a:r>
            <a:endParaRPr sz="1100" dirty="0">
              <a:solidFill>
                <a:srgbClr val="2222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68680" y="4572000"/>
            <a:ext cx="7406640" cy="384048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4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280347" y="4654296"/>
            <a:ext cx="458330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dirty="0">
                <a:solidFill>
                  <a:srgbClr val="666666"/>
                </a:solidFill>
                <a:latin typeface="Microsoft YaHei"/>
              </a:rPr>
              <a:t>建议阅读顺序：先看图1（完成媒体入驻），再看图2（完成需求改造）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数据入驻项目交付节点流程图</a:t>
            </a:r>
            <a:endParaRPr lang="en-US" sz="1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1554480" cy="3474720"/>
          </a:xfrm>
          <a:prstGeom prst="roundRect">
            <a:avLst>
              <a:gd name="adj" fmla="val 5882"/>
            </a:avLst>
          </a:prstGeom>
          <a:solidFill>
            <a:srgbClr val="E8F4F8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965960" y="822960"/>
            <a:ext cx="1554480" cy="3474720"/>
          </a:xfrm>
          <a:prstGeom prst="roundRect">
            <a:avLst>
              <a:gd name="adj" fmla="val 5882"/>
            </a:avLst>
          </a:prstGeom>
          <a:solidFill>
            <a:srgbClr val="E8F4F8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0" y="822960"/>
            <a:ext cx="1554480" cy="3474720"/>
          </a:xfrm>
          <a:prstGeom prst="roundRect">
            <a:avLst>
              <a:gd name="adj" fmla="val 5882"/>
            </a:avLst>
          </a:prstGeom>
          <a:solidFill>
            <a:srgbClr val="E8F4F8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49240" y="822960"/>
            <a:ext cx="1554480" cy="3474720"/>
          </a:xfrm>
          <a:prstGeom prst="roundRect">
            <a:avLst>
              <a:gd name="adj" fmla="val 5882"/>
            </a:avLst>
          </a:prstGeom>
          <a:solidFill>
            <a:srgbClr val="E8F4F8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040880" y="822960"/>
            <a:ext cx="1554480" cy="3474720"/>
          </a:xfrm>
          <a:prstGeom prst="roundRect">
            <a:avLst>
              <a:gd name="adj" fmla="val 5882"/>
            </a:avLst>
          </a:prstGeom>
          <a:solidFill>
            <a:srgbClr val="E8F4F8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274320" y="86470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启动阶段</a:t>
            </a:r>
            <a:endParaRPr lang="en-US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1965960" y="86470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需求阶段</a:t>
            </a:r>
            <a:endParaRPr lang="en-US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57600" y="86470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开发阶段</a:t>
            </a:r>
            <a:endParaRPr lang="en-US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349240" y="86470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测试阶段</a:t>
            </a:r>
            <a:endParaRPr lang="en-US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040880" y="86470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上线阶段</a:t>
            </a:r>
            <a:endParaRPr lang="en-US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62940" y="1303020"/>
            <a:ext cx="777240" cy="777240"/>
          </a:xfrm>
          <a:prstGeom prst="diamond">
            <a:avLst/>
          </a:prstGeom>
          <a:solidFill>
            <a:srgbClr val="FFFFFF"/>
          </a:solidFill>
          <a:ln w="254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62940" y="1442166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72C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M1 需求确认
</a:t>
            </a:r>
            <a:r>
              <a:rPr lang="en-US" sz="800" dirty="0">
                <a:solidFill>
                  <a:srgbClr val="4472C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第1-2天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48640" y="2468880"/>
            <a:ext cx="100584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48640" y="25146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66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M2 技术方案讨论
</a:t>
            </a:r>
            <a:r>
              <a:rPr lang="en-US" sz="800" dirty="0">
                <a:solidFill>
                  <a:srgbClr val="FF66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第3天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51560" y="2084832"/>
            <a:ext cx="0" cy="384048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240280" y="1188720"/>
            <a:ext cx="100584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168721" y="123444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0AD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M6 标注规范确认
</a:t>
            </a:r>
            <a:r>
              <a:rPr lang="en-US" sz="800" dirty="0">
                <a:solidFill>
                  <a:srgbClr val="70AD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第4天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240280" y="2971800"/>
            <a:ext cx="100584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174679" y="301752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0AD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M7 人工打标完成
</a:t>
            </a:r>
            <a:r>
              <a:rPr lang="en-US" sz="800" dirty="0">
                <a:solidFill>
                  <a:srgbClr val="70AD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第6-16天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931920" y="1188720"/>
            <a:ext cx="100584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866319" y="123444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72C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M3 限审并发完成
</a:t>
            </a:r>
            <a:r>
              <a:rPr lang="en-US" sz="800" dirty="0">
                <a:solidFill>
                  <a:srgbClr val="4472C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第4天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931920" y="1920240"/>
            <a:ext cx="100584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866319" y="196596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M9 数据回标完成
</a:t>
            </a:r>
            <a:r>
              <a:rPr lang="en-US" sz="8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第6-16天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931920" y="2651760"/>
            <a:ext cx="100584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882221" y="269748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72C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M5 数据清洗完成
</a:t>
            </a:r>
            <a:r>
              <a:rPr lang="en-US" sz="800" dirty="0">
                <a:solidFill>
                  <a:srgbClr val="4472C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第7-19天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931920" y="3383280"/>
            <a:ext cx="100584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858368" y="342900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72C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M8 数据合并完成
</a:t>
            </a:r>
            <a:r>
              <a:rPr lang="en-US" sz="800" dirty="0">
                <a:solidFill>
                  <a:srgbClr val="4472C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第0-22天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434840" y="2377440"/>
            <a:ext cx="0" cy="27432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434840" y="3108960"/>
            <a:ext cx="0" cy="27432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623560" y="1188720"/>
            <a:ext cx="100584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577440" y="1234440"/>
            <a:ext cx="1115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72C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M3 数据填入完成
</a:t>
            </a:r>
            <a:r>
              <a:rPr lang="en-US" sz="800" dirty="0">
                <a:solidFill>
                  <a:srgbClr val="4472C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第3-24天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623560" y="2377440"/>
            <a:ext cx="100584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540064" y="2423160"/>
            <a:ext cx="119269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0AD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M10 可视化数完成
</a:t>
            </a:r>
            <a:r>
              <a:rPr lang="en-US" sz="800" dirty="0">
                <a:solidFill>
                  <a:srgbClr val="70AD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第8-27天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623560" y="3108960"/>
            <a:ext cx="100584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623560" y="31546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66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M11 数据巡查
</a:t>
            </a:r>
            <a:r>
              <a:rPr lang="en-US" sz="800" dirty="0">
                <a:solidFill>
                  <a:srgbClr val="FF66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第28天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126480" y="2834640"/>
            <a:ext cx="0" cy="27432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7429500" y="1303020"/>
            <a:ext cx="777240" cy="777240"/>
          </a:xfrm>
          <a:prstGeom prst="diamond">
            <a:avLst/>
          </a:prstGeom>
          <a:solidFill>
            <a:srgbClr val="FFFFFF"/>
          </a:solidFill>
          <a:ln w="254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429500" y="1394460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72C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M12 正式上线
</a:t>
            </a:r>
            <a:r>
              <a:rPr lang="en-US" sz="800" dirty="0">
                <a:solidFill>
                  <a:srgbClr val="4472C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第29天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7429500" y="3406140"/>
            <a:ext cx="777240" cy="777240"/>
          </a:xfrm>
          <a:prstGeom prst="diamond">
            <a:avLst/>
          </a:prstGeom>
          <a:solidFill>
            <a:srgbClr val="FFFFFF"/>
          </a:solidFill>
          <a:ln w="254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429500" y="3497580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72C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M13 运维移交
</a:t>
            </a:r>
            <a:r>
              <a:rPr lang="en-US" sz="800" dirty="0">
                <a:solidFill>
                  <a:srgbClr val="4472C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第30天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7818120" y="2084832"/>
            <a:ext cx="0" cy="1316736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1444752" y="1691640"/>
            <a:ext cx="795528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1444752" y="2697480"/>
            <a:ext cx="795528" cy="50292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3246120" y="1417320"/>
            <a:ext cx="685800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3246120" y="3200400"/>
            <a:ext cx="685800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4937760" y="1417320"/>
            <a:ext cx="685800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6629400" y="1417320"/>
            <a:ext cx="795528" cy="27432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6629400" y="3337560"/>
            <a:ext cx="795528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457200" y="44348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图例说明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1463040" y="4480560"/>
            <a:ext cx="164592" cy="164592"/>
          </a:xfrm>
          <a:prstGeom prst="diamond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1673352" y="44348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星标节点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2468880" y="4480560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2679192" y="44348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普通节点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3474720" y="4480560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3685032" y="44348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内部节点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4480560" y="4480560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4690872" y="44348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材料节点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5669280" y="4544568"/>
            <a:ext cx="320040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6035040" y="44348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关联线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6675120" y="4544568"/>
            <a:ext cx="32004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7040880" y="44348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普通连线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0A0A275-49C2-FDA9-0CB1-F54D7F500326}"/>
              </a:ext>
            </a:extLst>
          </p:cNvPr>
          <p:cNvSpPr txBox="1"/>
          <p:nvPr/>
        </p:nvSpPr>
        <p:spPr>
          <a:xfrm>
            <a:off x="2286000" y="238758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dirty="0"/>
              <a:t>新需求阐述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90970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矩形 63">
            <a:extLst>
              <a:ext uri="{FF2B5EF4-FFF2-40B4-BE49-F238E27FC236}">
                <a16:creationId xmlns:a16="http://schemas.microsoft.com/office/drawing/2014/main" id="{91C677DF-56A1-D47C-0706-FBC29E6727FB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1800" b="1" dirty="0" err="1">
                <a:solidFill>
                  <a:srgbClr val="333333"/>
                </a:solidFill>
                <a:latin typeface="Microsoft YaHei"/>
              </a:rPr>
              <a:t>需求</a:t>
            </a:r>
            <a:r>
              <a:rPr lang="en-US" b="1" dirty="0" err="1">
                <a:solidFill>
                  <a:srgbClr val="333333"/>
                </a:solidFill>
                <a:latin typeface="Microsoft YaHei"/>
              </a:rPr>
              <a:t>增加</a:t>
            </a:r>
            <a:r>
              <a:rPr sz="1800" b="1" dirty="0" err="1">
                <a:solidFill>
                  <a:srgbClr val="333333"/>
                </a:solidFill>
                <a:latin typeface="Microsoft YaHei"/>
              </a:rPr>
              <a:t>交付节点流程图</a:t>
            </a:r>
            <a:endParaRPr sz="1800" b="1" dirty="0">
              <a:solidFill>
                <a:srgbClr val="333333"/>
              </a:solidFill>
              <a:latin typeface="Microsoft YaHei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1554480" cy="3474720"/>
          </a:xfrm>
          <a:prstGeom prst="roundRect">
            <a:avLst>
              <a:gd name="adj" fmla="val 5882"/>
            </a:avLst>
          </a:prstGeom>
          <a:solidFill>
            <a:srgbClr val="E8F4F8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965960" y="822960"/>
            <a:ext cx="1554480" cy="3474720"/>
          </a:xfrm>
          <a:prstGeom prst="roundRect">
            <a:avLst>
              <a:gd name="adj" fmla="val 5882"/>
            </a:avLst>
          </a:prstGeom>
          <a:solidFill>
            <a:srgbClr val="E8F4F8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0" y="822960"/>
            <a:ext cx="1554480" cy="3474720"/>
          </a:xfrm>
          <a:prstGeom prst="roundRect">
            <a:avLst>
              <a:gd name="adj" fmla="val 5882"/>
            </a:avLst>
          </a:prstGeom>
          <a:solidFill>
            <a:srgbClr val="E8F4F8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49240" y="822960"/>
            <a:ext cx="1554480" cy="3474720"/>
          </a:xfrm>
          <a:prstGeom prst="roundRect">
            <a:avLst>
              <a:gd name="adj" fmla="val 5882"/>
            </a:avLst>
          </a:prstGeom>
          <a:solidFill>
            <a:srgbClr val="E8F4F8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040880" y="822960"/>
            <a:ext cx="1554480" cy="3474720"/>
          </a:xfrm>
          <a:prstGeom prst="roundRect">
            <a:avLst>
              <a:gd name="adj" fmla="val 5882"/>
            </a:avLst>
          </a:prstGeom>
          <a:solidFill>
            <a:srgbClr val="E8F4F8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274320" y="86470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300" b="1">
                <a:solidFill>
                  <a:srgbClr val="333333"/>
                </a:solidFill>
                <a:latin typeface="Microsoft YaHei"/>
              </a:rPr>
              <a:t>启动阶段</a:t>
            </a:r>
            <a:endParaRPr lang="en-US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1965960" y="86470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300" b="1">
                <a:solidFill>
                  <a:srgbClr val="333333"/>
                </a:solidFill>
                <a:latin typeface="Microsoft YaHei"/>
              </a:rPr>
              <a:t>需求A阶段</a:t>
            </a:r>
            <a:endParaRPr lang="en-US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57600" y="86470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300" b="1">
                <a:solidFill>
                  <a:srgbClr val="333333"/>
                </a:solidFill>
                <a:latin typeface="Microsoft YaHei"/>
              </a:rPr>
              <a:t>需求A上线</a:t>
            </a:r>
            <a:endParaRPr lang="en-US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349240" y="86470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300" b="1">
                <a:solidFill>
                  <a:srgbClr val="333333"/>
                </a:solidFill>
                <a:latin typeface="Microsoft YaHei"/>
              </a:rPr>
              <a:t>需求B阶段</a:t>
            </a:r>
            <a:endParaRPr lang="en-US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040880" y="86470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300" b="1">
                <a:solidFill>
                  <a:srgbClr val="333333"/>
                </a:solidFill>
                <a:latin typeface="Microsoft YaHei"/>
              </a:rPr>
              <a:t>上线验收</a:t>
            </a:r>
            <a:endParaRPr lang="en-US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62940" y="1303020"/>
            <a:ext cx="777240" cy="777240"/>
          </a:xfrm>
          <a:prstGeom prst="diamond">
            <a:avLst/>
          </a:prstGeom>
          <a:solidFill>
            <a:srgbClr val="FFFFFF"/>
          </a:solidFill>
          <a:ln w="254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62940" y="1442166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>
                <a:solidFill>
                  <a:srgbClr val="4472C4"/>
                </a:solidFill>
                <a:latin typeface="Microsoft YaHei"/>
              </a:rPr>
              <a:t>M1 启动排期确认
</a:t>
            </a:r>
            <a:r>
              <a:rPr sz="800">
                <a:solidFill>
                  <a:srgbClr val="4472C4"/>
                </a:solidFill>
                <a:latin typeface="Microsoft YaHei"/>
              </a:rPr>
              <a:t>第1天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48640" y="2468880"/>
            <a:ext cx="100584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48640" y="25146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>
                <a:solidFill>
                  <a:srgbClr val="FF6600"/>
                </a:solidFill>
                <a:latin typeface="Microsoft YaHei"/>
              </a:rPr>
              <a:t>M2 需求范围冻结
</a:t>
            </a:r>
            <a:r>
              <a:rPr sz="800">
                <a:solidFill>
                  <a:srgbClr val="FF6600"/>
                </a:solidFill>
                <a:latin typeface="Microsoft YaHei"/>
              </a:rPr>
              <a:t>第2-3天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51560" y="2084832"/>
            <a:ext cx="0" cy="384048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240280" y="1188720"/>
            <a:ext cx="100584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168721" y="123444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 dirty="0">
                <a:solidFill>
                  <a:srgbClr val="70AD47"/>
                </a:solidFill>
                <a:latin typeface="Microsoft YaHei"/>
              </a:rPr>
              <a:t>M3 </a:t>
            </a:r>
            <a:r>
              <a:rPr sz="900" dirty="0" err="1">
                <a:solidFill>
                  <a:srgbClr val="70AD47"/>
                </a:solidFill>
                <a:latin typeface="Microsoft YaHei"/>
              </a:rPr>
              <a:t>角色权限确认</a:t>
            </a:r>
            <a:r>
              <a:rPr sz="900" dirty="0">
                <a:solidFill>
                  <a:srgbClr val="70AD47"/>
                </a:solidFill>
                <a:latin typeface="Microsoft YaHei"/>
              </a:rPr>
              <a:t>
</a:t>
            </a:r>
            <a:r>
              <a:rPr sz="800" dirty="0">
                <a:solidFill>
                  <a:srgbClr val="70AD47"/>
                </a:solidFill>
                <a:latin typeface="Microsoft YaHei"/>
              </a:rPr>
              <a:t>第3-4天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240280" y="2971800"/>
            <a:ext cx="100584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174679" y="301752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>
                <a:solidFill>
                  <a:srgbClr val="70AD47"/>
                </a:solidFill>
                <a:latin typeface="Microsoft YaHei"/>
              </a:rPr>
              <a:t>M4 标签功能开发
</a:t>
            </a:r>
            <a:r>
              <a:rPr sz="800">
                <a:solidFill>
                  <a:srgbClr val="70AD47"/>
                </a:solidFill>
                <a:latin typeface="Microsoft YaHei"/>
              </a:rPr>
              <a:t>第2周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931920" y="1188720"/>
            <a:ext cx="100584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866319" y="123444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 dirty="0">
                <a:solidFill>
                  <a:srgbClr val="4472C4"/>
                </a:solidFill>
                <a:latin typeface="Microsoft YaHei"/>
              </a:rPr>
              <a:t>M5 </a:t>
            </a:r>
            <a:r>
              <a:rPr sz="900" dirty="0" err="1">
                <a:solidFill>
                  <a:srgbClr val="4472C4"/>
                </a:solidFill>
                <a:latin typeface="Microsoft YaHei"/>
              </a:rPr>
              <a:t>标签联调完成</a:t>
            </a:r>
            <a:r>
              <a:rPr sz="900" dirty="0">
                <a:solidFill>
                  <a:srgbClr val="4472C4"/>
                </a:solidFill>
                <a:latin typeface="Microsoft YaHei"/>
              </a:rPr>
              <a:t>
</a:t>
            </a:r>
            <a:r>
              <a:rPr sz="800" dirty="0">
                <a:solidFill>
                  <a:srgbClr val="4472C4"/>
                </a:solidFill>
                <a:latin typeface="Microsoft YaHei"/>
              </a:rPr>
              <a:t>第3周前半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931920" y="1920240"/>
            <a:ext cx="100584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866319" y="196596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>
                <a:solidFill>
                  <a:srgbClr val="C00000"/>
                </a:solidFill>
                <a:latin typeface="Microsoft YaHei"/>
              </a:rPr>
              <a:t>M6 标签UAT通过
</a:t>
            </a:r>
            <a:r>
              <a:rPr sz="800">
                <a:solidFill>
                  <a:srgbClr val="C00000"/>
                </a:solidFill>
                <a:latin typeface="Microsoft YaHei"/>
              </a:rPr>
              <a:t>第3周(5次x1h)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931920" y="2651760"/>
            <a:ext cx="100584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882221" y="269748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>
                <a:solidFill>
                  <a:srgbClr val="4472C4"/>
                </a:solidFill>
                <a:latin typeface="Microsoft YaHei"/>
              </a:rPr>
              <a:t>M7 需求A上线
</a:t>
            </a:r>
            <a:r>
              <a:rPr sz="800">
                <a:solidFill>
                  <a:srgbClr val="4472C4"/>
                </a:solidFill>
                <a:latin typeface="Microsoft YaHei"/>
              </a:rPr>
              <a:t>第3周末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931920" y="3383280"/>
            <a:ext cx="100584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858368" y="342900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>
                <a:solidFill>
                  <a:srgbClr val="4472C4"/>
                </a:solidFill>
                <a:latin typeface="Microsoft YaHei"/>
              </a:rPr>
              <a:t>M8 动态日更方案确认
</a:t>
            </a:r>
            <a:r>
              <a:rPr sz="800">
                <a:solidFill>
                  <a:srgbClr val="4472C4"/>
                </a:solidFill>
                <a:latin typeface="Microsoft YaHei"/>
              </a:rPr>
              <a:t>第4周初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434840" y="2377440"/>
            <a:ext cx="0" cy="27432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434840" y="3108960"/>
            <a:ext cx="0" cy="27432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623560" y="1188720"/>
            <a:ext cx="100584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577440" y="1234440"/>
            <a:ext cx="1115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>
                <a:solidFill>
                  <a:srgbClr val="4472C4"/>
                </a:solidFill>
                <a:latin typeface="Microsoft YaHei"/>
              </a:rPr>
              <a:t>M9 动态同步开发
</a:t>
            </a:r>
            <a:r>
              <a:rPr sz="800">
                <a:solidFill>
                  <a:srgbClr val="4472C4"/>
                </a:solidFill>
                <a:latin typeface="Microsoft YaHei"/>
              </a:rPr>
              <a:t>第4周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623560" y="2377440"/>
            <a:ext cx="100584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540064" y="2423160"/>
            <a:ext cx="119269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>
                <a:solidFill>
                  <a:srgbClr val="70AD47"/>
                </a:solidFill>
                <a:latin typeface="Microsoft YaHei"/>
              </a:rPr>
              <a:t>M10 动态联调完成
</a:t>
            </a:r>
            <a:r>
              <a:rPr sz="800">
                <a:solidFill>
                  <a:srgbClr val="70AD47"/>
                </a:solidFill>
                <a:latin typeface="Microsoft YaHei"/>
              </a:rPr>
              <a:t>第5周前半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623560" y="3108960"/>
            <a:ext cx="100584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623560" y="31546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>
                <a:solidFill>
                  <a:srgbClr val="FF6600"/>
                </a:solidFill>
                <a:latin typeface="Microsoft YaHei"/>
              </a:rPr>
              <a:t>M11 需求B UAT通过
</a:t>
            </a:r>
            <a:r>
              <a:rPr sz="800">
                <a:solidFill>
                  <a:srgbClr val="FF6600"/>
                </a:solidFill>
                <a:latin typeface="Microsoft YaHei"/>
              </a:rPr>
              <a:t>第5周(5次x1h)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126480" y="2834640"/>
            <a:ext cx="0" cy="27432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7429500" y="1303020"/>
            <a:ext cx="777240" cy="777240"/>
          </a:xfrm>
          <a:prstGeom prst="diamond">
            <a:avLst/>
          </a:prstGeom>
          <a:solidFill>
            <a:srgbClr val="FFFFFF"/>
          </a:solidFill>
          <a:ln w="254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429500" y="1442166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 dirty="0">
                <a:solidFill>
                  <a:srgbClr val="4472C4"/>
                </a:solidFill>
                <a:latin typeface="Microsoft YaHei"/>
              </a:rPr>
              <a:t>M12 </a:t>
            </a:r>
            <a:r>
              <a:rPr sz="900" dirty="0" err="1">
                <a:solidFill>
                  <a:srgbClr val="4472C4"/>
                </a:solidFill>
                <a:latin typeface="Microsoft YaHei"/>
              </a:rPr>
              <a:t>需求B上线</a:t>
            </a:r>
            <a:r>
              <a:rPr sz="900" dirty="0">
                <a:solidFill>
                  <a:srgbClr val="4472C4"/>
                </a:solidFill>
                <a:latin typeface="Microsoft YaHei"/>
              </a:rPr>
              <a:t>
</a:t>
            </a:r>
            <a:r>
              <a:rPr sz="800" dirty="0">
                <a:solidFill>
                  <a:srgbClr val="4472C4"/>
                </a:solidFill>
                <a:latin typeface="Microsoft YaHei"/>
              </a:rPr>
              <a:t>第5周末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7429500" y="3406140"/>
            <a:ext cx="777240" cy="777240"/>
          </a:xfrm>
          <a:prstGeom prst="diamond">
            <a:avLst/>
          </a:prstGeom>
          <a:solidFill>
            <a:srgbClr val="FFFFFF"/>
          </a:solidFill>
          <a:ln w="254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429500" y="3529384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 dirty="0">
                <a:solidFill>
                  <a:srgbClr val="4472C4"/>
                </a:solidFill>
                <a:latin typeface="Microsoft YaHei"/>
              </a:rPr>
              <a:t>M13 </a:t>
            </a:r>
            <a:r>
              <a:rPr sz="900" dirty="0" err="1">
                <a:solidFill>
                  <a:srgbClr val="4472C4"/>
                </a:solidFill>
                <a:latin typeface="Microsoft YaHei"/>
              </a:rPr>
              <a:t>稳态交付验收</a:t>
            </a:r>
            <a:r>
              <a:rPr sz="900" dirty="0">
                <a:solidFill>
                  <a:srgbClr val="4472C4"/>
                </a:solidFill>
                <a:latin typeface="Microsoft YaHei"/>
              </a:rPr>
              <a:t>
</a:t>
            </a:r>
            <a:r>
              <a:rPr sz="800" dirty="0">
                <a:solidFill>
                  <a:srgbClr val="4472C4"/>
                </a:solidFill>
                <a:latin typeface="Microsoft YaHei"/>
              </a:rPr>
              <a:t>第6周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7818120" y="2084832"/>
            <a:ext cx="0" cy="1316736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1444752" y="1691640"/>
            <a:ext cx="795528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1444752" y="2697480"/>
            <a:ext cx="795528" cy="50292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3246120" y="1417320"/>
            <a:ext cx="685800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3246120" y="3200400"/>
            <a:ext cx="685800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4937760" y="1417320"/>
            <a:ext cx="685800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6629400" y="1417320"/>
            <a:ext cx="795528" cy="27432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6629400" y="3337560"/>
            <a:ext cx="795528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457200" y="44348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图例说明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1463040" y="4480560"/>
            <a:ext cx="164592" cy="164592"/>
          </a:xfrm>
          <a:prstGeom prst="diamond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1673352" y="44348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星标节点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2468880" y="4480560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2679192" y="44348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普通节点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3474720" y="4480560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3685032" y="44348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内部节点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4480560" y="4480560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4690872" y="44348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材料节点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5669280" y="4544568"/>
            <a:ext cx="320040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6035040" y="44348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关联线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6675120" y="4544568"/>
            <a:ext cx="32004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7040880" y="44348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普通连线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1390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10432E7-F4CE-1460-E712-0430DC581B3B}"/>
              </a:ext>
            </a:extLst>
          </p:cNvPr>
          <p:cNvSpPr txBox="1"/>
          <p:nvPr/>
        </p:nvSpPr>
        <p:spPr>
          <a:xfrm>
            <a:off x="2107096" y="1844703"/>
            <a:ext cx="1723549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/>
              <a:t>费用构成概览</a:t>
            </a:r>
            <a:endParaRPr kumimoji="1" lang="en-US" altLang="zh-CN" sz="2000" b="1" dirty="0"/>
          </a:p>
          <a:p>
            <a:r>
              <a:rPr kumimoji="1" lang="zh-CN" altLang="en-US" dirty="0"/>
              <a:t>非本地化部署</a:t>
            </a:r>
            <a:endParaRPr kumimoji="1" lang="en-US" altLang="zh-CN" dirty="0"/>
          </a:p>
          <a:p>
            <a:r>
              <a:rPr kumimoji="1" lang="zh-CN" altLang="en-US" dirty="0"/>
              <a:t>本地化部署</a:t>
            </a:r>
            <a:endParaRPr kumimoji="1" lang="en-US" altLang="zh-CN" dirty="0"/>
          </a:p>
          <a:p>
            <a:r>
              <a:rPr kumimoji="1" lang="zh-CN" altLang="en-US" dirty="0"/>
              <a:t>新增功能开发</a:t>
            </a:r>
          </a:p>
        </p:txBody>
      </p:sp>
    </p:spTree>
    <p:extLst>
      <p:ext uri="{BB962C8B-B14F-4D97-AF65-F5344CB8AC3E}">
        <p14:creationId xmlns:p14="http://schemas.microsoft.com/office/powerpoint/2010/main" val="1420417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6064" y="164592"/>
            <a:ext cx="4031873" cy="40011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000" b="1" dirty="0" err="1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费用一：本地化部署费用</a:t>
            </a:r>
            <a:r>
              <a:rPr lang="zh-CN" altLang="en-US" sz="2000" b="1" dirty="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（可选）</a:t>
            </a:r>
            <a:endParaRPr sz="2000" b="1" dirty="0">
              <a:solidFill>
                <a:srgbClr val="2222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566928"/>
            <a:ext cx="832104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Microsoft YaHei"/>
              </a:rPr>
              <a:t>完成时间：2周（与后续两张交付节点图并行规划，不互相占用工期）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41832"/>
            <a:ext cx="3794760" cy="960120"/>
          </a:xfrm>
          <a:prstGeom prst="roundRect">
            <a:avLst/>
          </a:prstGeom>
          <a:solidFill>
            <a:srgbClr val="EAF2FB"/>
          </a:solidFill>
          <a:ln w="15875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060704"/>
            <a:ext cx="34747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4472C4"/>
                </a:solidFill>
                <a:latin typeface="Microsoft YaHei"/>
              </a:rPr>
              <a:t>非本地化部署（常规SaaS）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9304"/>
            <a:ext cx="3429000" cy="451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dirty="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sz="1000" dirty="0" err="1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系统运行在</a:t>
            </a:r>
            <a:r>
              <a:rPr lang="zh-CN" altLang="en-US" sz="1000" dirty="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迪思</a:t>
            </a:r>
            <a:r>
              <a:rPr sz="1000" dirty="0" err="1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环境，客户按服务使用</a:t>
            </a:r>
            <a:endParaRPr sz="1000" dirty="0">
              <a:solidFill>
                <a:srgbClr val="2222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>
              <a:spcAft>
                <a:spcPts val="400"/>
              </a:spcAft>
            </a:pPr>
            <a:r>
              <a:rPr sz="1000" dirty="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sz="1000" dirty="0" err="1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客户不接管代码与基础设施</a:t>
            </a:r>
            <a:endParaRPr sz="1000" dirty="0">
              <a:solidFill>
                <a:srgbClr val="2222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800600" y="941832"/>
            <a:ext cx="3794760" cy="960120"/>
          </a:xfrm>
          <a:prstGeom prst="roundRect">
            <a:avLst/>
          </a:prstGeom>
          <a:solidFill>
            <a:srgbClr val="EEF7E8"/>
          </a:solidFill>
          <a:ln w="15875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83480" y="1060704"/>
            <a:ext cx="34747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70AD47"/>
                </a:solidFill>
                <a:latin typeface="Microsoft YaHei"/>
              </a:rPr>
              <a:t>本地化部署（本次费用项）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80" y="1289304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222222"/>
                </a:solidFill>
                <a:latin typeface="Microsoft YaHei"/>
              </a:rPr>
              <a:t>• 代码库交付客户并协助其本地运行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222222"/>
                </a:solidFill>
                <a:latin typeface="Microsoft YaHei"/>
              </a:rPr>
              <a:t>• 需本地资源、外网权限与部署实施支持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25603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Microsoft YaHei"/>
              </a:rPr>
              <a:t>本地化部署费用明细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6799569"/>
              </p:ext>
            </p:extLst>
          </p:nvPr>
        </p:nvGraphicFramePr>
        <p:xfrm>
          <a:off x="502920" y="2148840"/>
          <a:ext cx="813816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3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icrosoft YaHei"/>
                        </a:rPr>
                        <a:t>费用项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icrosoft YaHei"/>
                        </a:rPr>
                        <a:t>用途说明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222222"/>
                          </a:solidFill>
                          <a:latin typeface="Microsoft YaHei"/>
                        </a:rPr>
                        <a:t>费用</a:t>
                      </a:r>
                      <a:endParaRPr sz="1000" b="1" dirty="0">
                        <a:solidFill>
                          <a:srgbClr val="222222"/>
                        </a:solidFill>
                        <a:latin typeface="Microsoft YaHe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icrosoft YaHei"/>
                        </a:rPr>
                        <a:t>服务器一台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icrosoft YaHei"/>
                        </a:rPr>
                        <a:t>应用服务部署与业务访问承载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22222"/>
                          </a:solidFill>
                          <a:latin typeface="Microsoft YaHei"/>
                        </a:rPr>
                        <a:t>60万/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Microsoft YaHei"/>
                        </a:rPr>
                        <a:t>年</a:t>
                      </a:r>
                      <a:endParaRPr sz="1000" b="0" dirty="0">
                        <a:solidFill>
                          <a:srgbClr val="222222"/>
                        </a:solidFill>
                        <a:latin typeface="Microsoft YaHe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icrosoft YaHei"/>
                        </a:rPr>
                        <a:t>数据库一台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icrosoft YaHei"/>
                        </a:rPr>
                        <a:t>结构化数据存储与检索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icrosoft YaHei"/>
                        </a:rPr>
                        <a:t>域名一个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icrosoft YaHei"/>
                        </a:rPr>
                        <a:t>对外访问入口配置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icrosoft YaHei"/>
                        </a:rPr>
                        <a:t>OSS存储一个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icrosoft YaHei"/>
                        </a:rPr>
                        <a:t>文件与素材存储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icrosoft YaHei"/>
                        </a:rPr>
                        <a:t>外网访问权限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 err="1">
                          <a:solidFill>
                            <a:srgbClr val="222222"/>
                          </a:solidFill>
                          <a:latin typeface="Microsoft YaHei"/>
                        </a:rPr>
                        <a:t>本地化部署必要条件</a:t>
                      </a:r>
                      <a:endParaRPr sz="1000" b="0" dirty="0">
                        <a:solidFill>
                          <a:srgbClr val="222222"/>
                        </a:solidFill>
                        <a:latin typeface="Microsoft YaHe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00" b="0" dirty="0" err="1">
                          <a:solidFill>
                            <a:srgbClr val="222222"/>
                          </a:solidFill>
                          <a:latin typeface="Microsoft YaHei"/>
                        </a:rPr>
                        <a:t>数据额外同步开发</a:t>
                      </a:r>
                      <a:endParaRPr sz="1000" b="0" dirty="0">
                        <a:solidFill>
                          <a:srgbClr val="222222"/>
                        </a:solidFill>
                        <a:latin typeface="Microsoft YaHe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 err="1">
                          <a:solidFill>
                            <a:srgbClr val="222222"/>
                          </a:solidFill>
                          <a:latin typeface="Microsoft YaHei"/>
                        </a:rPr>
                        <a:t>新增同步逻辑按需求单独开发</a:t>
                      </a:r>
                      <a:endParaRPr sz="1000" b="0" dirty="0">
                        <a:solidFill>
                          <a:srgbClr val="222222"/>
                        </a:solidFill>
                        <a:latin typeface="Microsoft YaHe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>
                          <a:solidFill>
                            <a:srgbClr val="222222"/>
                          </a:solidFill>
                          <a:latin typeface="Microsoft YaHei"/>
                        </a:rPr>
                        <a:t>单独评估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Microsoft YaHei"/>
                        </a:rPr>
                        <a:t>/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Microsoft YaHei"/>
                        </a:rPr>
                        <a:t>报价</a:t>
                      </a:r>
                      <a:endParaRPr sz="1000" b="0" dirty="0">
                        <a:solidFill>
                          <a:srgbClr val="222222"/>
                        </a:solidFill>
                        <a:latin typeface="Microsoft YaHe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02920" y="4526280"/>
            <a:ext cx="8138160" cy="411480"/>
          </a:xfrm>
          <a:prstGeom prst="roundRect">
            <a:avLst/>
          </a:prstGeom>
          <a:solidFill>
            <a:srgbClr val="FFF3E8"/>
          </a:solidFill>
          <a:ln w="15875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4617720"/>
            <a:ext cx="77724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1">
                <a:solidFill>
                  <a:srgbClr val="FF6600"/>
                </a:solidFill>
                <a:latin typeface="Microsoft YaHei"/>
              </a:rPr>
              <a:t>基础本地化部署总价：60万/年（不含“数据额外同步开发”单独报价项）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832104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000" b="1">
                <a:solidFill>
                  <a:srgbClr val="222222"/>
                </a:solidFill>
                <a:latin typeface="Microsoft YaHei"/>
              </a:rPr>
              <a:t>费用二：系统服务费用（两种方案）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21685" y="566928"/>
            <a:ext cx="2300630" cy="26161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0" dirty="0">
                <a:solidFill>
                  <a:srgbClr val="666666"/>
                </a:solidFill>
                <a:latin typeface="Microsoft YaHei"/>
              </a:rPr>
              <a:t>“</a:t>
            </a:r>
            <a:r>
              <a:rPr sz="1100" b="0" dirty="0" err="1">
                <a:solidFill>
                  <a:srgbClr val="666666"/>
                </a:solidFill>
                <a:latin typeface="Microsoft YaHei"/>
              </a:rPr>
              <a:t>全服务模式”和“仅系统模式</a:t>
            </a:r>
            <a:r>
              <a:rPr sz="1100" b="0" dirty="0">
                <a:solidFill>
                  <a:srgbClr val="666666"/>
                </a:solidFill>
                <a:latin typeface="Microsoft YaHei"/>
              </a:rPr>
              <a:t>”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1144837"/>
              </p:ext>
            </p:extLst>
          </p:nvPr>
        </p:nvGraphicFramePr>
        <p:xfrm>
          <a:off x="594360" y="959772"/>
          <a:ext cx="7955280" cy="28253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8720"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对比项</a:t>
                      </a:r>
                      <a:endParaRPr sz="1100" b="1" dirty="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方案一</a:t>
                      </a:r>
                      <a:endParaRPr sz="1100" b="1" dirty="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方案二</a:t>
                      </a:r>
                      <a:r>
                        <a:rPr lang="zh-CN" altLang="en-US" sz="1100" b="1" dirty="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（广本模式）</a:t>
                      </a:r>
                      <a:endParaRPr sz="1100" b="1" dirty="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49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系统费用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5万/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年</a:t>
                      </a:r>
                      <a:endParaRPr sz="1000" b="0" dirty="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20万/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年</a:t>
                      </a:r>
                      <a:endParaRPr sz="1000" b="0" dirty="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66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数据服务费用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4万/月（按12个月服务）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 dirty="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无该服务</a:t>
                      </a:r>
                      <a:endParaRPr sz="1000" b="0" dirty="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176">
                <a:tc>
                  <a:txBody>
                    <a:bodyPr/>
                    <a:lstStyle/>
                    <a:p>
                      <a:pPr algn="l"/>
                      <a:r>
                        <a:rPr sz="1000" b="0" dirty="0" err="1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年度费用</a:t>
                      </a:r>
                      <a:endParaRPr sz="1000" b="0" dirty="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53万/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年</a:t>
                      </a:r>
                      <a:endParaRPr lang="en-US" sz="1000" b="0" dirty="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algn="ctr"/>
                      <a:r>
                        <a:rPr sz="1000" b="0" dirty="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（5万 + 4万x12）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20万/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年</a:t>
                      </a:r>
                      <a:endParaRPr sz="1000" b="0" dirty="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370">
                <a:tc>
                  <a:txBody>
                    <a:bodyPr/>
                    <a:lstStyle/>
                    <a:p>
                      <a:pPr algn="l"/>
                      <a:r>
                        <a:rPr sz="1000" b="0" dirty="0" err="1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适用场景</a:t>
                      </a:r>
                      <a:endParaRPr sz="1000" b="0" dirty="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希望持续由我方提供数据更新与运营支持</a:t>
                      </a:r>
                      <a:endParaRPr sz="1000" b="0" dirty="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客户有自有数据团队，主要使用系统能力</a:t>
                      </a:r>
                      <a:endParaRPr sz="1000" b="0" dirty="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381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000" b="0" kern="1200" dirty="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备注</a:t>
                      </a:r>
                      <a:endParaRPr sz="1000" b="0" kern="1200" dirty="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服务更完整，维护压力更低</a:t>
                      </a:r>
                      <a:endParaRPr sz="1000" b="0" dirty="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成本更可控，但需自建数据更新能力</a:t>
                      </a:r>
                      <a:endParaRPr sz="1000" b="0" dirty="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15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050" b="1" kern="1200" dirty="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总计</a:t>
                      </a:r>
                      <a:endParaRPr sz="1050" b="1" kern="1200" dirty="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53</a:t>
                      </a:r>
                      <a:r>
                        <a:rPr lang="zh-CN" altLang="en-US" sz="1050" b="1" dirty="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万</a:t>
                      </a:r>
                      <a:r>
                        <a:rPr lang="en-US" altLang="zh-CN" sz="1050" b="1" dirty="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1050" b="1" dirty="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年</a:t>
                      </a:r>
                      <a:endParaRPr sz="1050" b="1" dirty="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</a:t>
                      </a:r>
                      <a:r>
                        <a:rPr lang="zh-CN" altLang="en-US" sz="1050" b="1" dirty="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万</a:t>
                      </a:r>
                      <a:r>
                        <a:rPr lang="en-US" altLang="zh-CN" sz="1050" b="1" dirty="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1050" b="1" dirty="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年</a:t>
                      </a:r>
                      <a:endParaRPr sz="1050" b="1" dirty="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542704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94360" y="4032703"/>
            <a:ext cx="7955279" cy="658368"/>
          </a:xfrm>
          <a:prstGeom prst="roundRect">
            <a:avLst/>
          </a:prstGeom>
          <a:solidFill>
            <a:srgbClr val="EAF2FB"/>
          </a:solidFill>
          <a:ln w="1524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39" y="4251361"/>
            <a:ext cx="75895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dirty="0">
                <a:solidFill>
                  <a:srgbClr val="222222"/>
                </a:solidFill>
                <a:latin typeface="Microsoft YaHei"/>
              </a:rPr>
              <a:t>解读：如希望“</a:t>
            </a:r>
            <a:r>
              <a:rPr sz="1100" dirty="0" err="1">
                <a:solidFill>
                  <a:srgbClr val="222222"/>
                </a:solidFill>
                <a:latin typeface="Microsoft YaHei"/>
              </a:rPr>
              <a:t>少投入人力、快形成稳定运营</a:t>
            </a:r>
            <a:r>
              <a:rPr sz="1100" dirty="0">
                <a:solidFill>
                  <a:srgbClr val="222222"/>
                </a:solidFill>
                <a:latin typeface="Microsoft YaHei"/>
              </a:rPr>
              <a:t>”，</a:t>
            </a:r>
            <a:r>
              <a:rPr sz="1100" dirty="0" err="1">
                <a:solidFill>
                  <a:srgbClr val="222222"/>
                </a:solidFill>
                <a:latin typeface="Microsoft YaHei"/>
              </a:rPr>
              <a:t>优先看方案一；如果已具备数据维护团队，方案二更经济</a:t>
            </a:r>
            <a:endParaRPr sz="1100" dirty="0">
              <a:solidFill>
                <a:srgbClr val="222222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959721"/>
            <a:ext cx="832104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000" b="1">
                <a:solidFill>
                  <a:srgbClr val="222222"/>
                </a:solidFill>
                <a:latin typeface="Microsoft YaHei"/>
              </a:rPr>
              <a:t>费用三：功能开发费用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362057"/>
            <a:ext cx="832104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0" dirty="0" err="1">
                <a:solidFill>
                  <a:srgbClr val="666666"/>
                </a:solidFill>
                <a:latin typeface="Microsoft YaHei"/>
              </a:rPr>
              <a:t>用于满足客户新增需求，属于一次性开发投入</a:t>
            </a:r>
            <a:endParaRPr sz="1100" b="0" dirty="0">
              <a:solidFill>
                <a:srgbClr val="666666"/>
              </a:solidFill>
              <a:latin typeface="Microsoft YaHei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5521251"/>
              </p:ext>
            </p:extLst>
          </p:nvPr>
        </p:nvGraphicFramePr>
        <p:xfrm>
          <a:off x="777240" y="1785068"/>
          <a:ext cx="75895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Microsoft YaHei"/>
                        </a:rPr>
                        <a:t>需求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222222"/>
                          </a:solidFill>
                          <a:latin typeface="Microsoft YaHei"/>
                        </a:rPr>
                        <a:t>功能说明</a:t>
                      </a:r>
                      <a:endParaRPr sz="1100" b="1" dirty="0">
                        <a:solidFill>
                          <a:srgbClr val="222222"/>
                        </a:solidFill>
                        <a:latin typeface="Microsoft YaHe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Microsoft YaHei"/>
                        </a:rPr>
                        <a:t>交付周期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Microsoft YaHei"/>
                        </a:rPr>
                        <a:t>费用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Microsoft YaHei"/>
                        </a:rPr>
                        <a:t>需求A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icrosoft YaHei"/>
                        </a:rPr>
                        <a:t>媒体标签自定义标注（含权限与审计）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Microsoft YaHei"/>
                        </a:rPr>
                        <a:t>2周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Microsoft YaHei"/>
                        </a:rPr>
                        <a:t>3万元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Microsoft YaHei"/>
                        </a:rPr>
                        <a:t>需求B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icrosoft YaHei"/>
                        </a:rPr>
                        <a:t>媒体人动态更新看板（按天更新）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Microsoft YaHei"/>
                        </a:rPr>
                        <a:t>2周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Microsoft YaHei"/>
                        </a:rPr>
                        <a:t>2万元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Microsoft YaHei"/>
                        </a:rPr>
                        <a:t>合计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Microsoft YaHei"/>
                        </a:rPr>
                        <a:t>两项功能串行交付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Microsoft YaHei"/>
                        </a:rPr>
                        <a:t>共4周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222222"/>
                          </a:solidFill>
                          <a:latin typeface="Microsoft YaHei"/>
                        </a:rPr>
                        <a:t>5万元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525</Words>
  <Application>Microsoft Macintosh PowerPoint</Application>
  <PresentationFormat>全屏显示(16:9)</PresentationFormat>
  <Paragraphs>150</Paragraphs>
  <Slides>10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3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SaaS平台数据入驻项目交付节点流程图</dc:title>
  <dc:subject>PptxGenJS Presentation</dc:subject>
  <dc:creator>Flowchart Converter</dc:creator>
  <cp:lastModifiedBy>Will</cp:lastModifiedBy>
  <cp:revision>16</cp:revision>
  <dcterms:created xsi:type="dcterms:W3CDTF">2026-02-11T02:26:44Z</dcterms:created>
  <dcterms:modified xsi:type="dcterms:W3CDTF">2026-02-24T12:37:41Z</dcterms:modified>
</cp:coreProperties>
</file>